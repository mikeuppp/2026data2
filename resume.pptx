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sldIdLst>
    <p:sldId id="256" r:id="rId2"/>
    <p:sldId id="258" r:id="rId3"/>
    <p:sldId id="257" r:id="rId4"/>
    <p:sldId id="259" r:id="rId5"/>
    <p:sldId id="260" r:id="rId6"/>
    <p:sldId id="261" r:id="rId7"/>
    <p:sldId id="262"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098" autoAdjust="0"/>
    <p:restoredTop sz="94660"/>
  </p:normalViewPr>
  <p:slideViewPr>
    <p:cSldViewPr snapToGrid="0">
      <p:cViewPr varScale="1">
        <p:scale>
          <a:sx n="83" d="100"/>
          <a:sy n="83" d="100"/>
        </p:scale>
        <p:origin x="84" y="1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8315BE-E7B1-4CA7-9755-0297B73FDDF8}" type="datetimeFigureOut">
              <a:rPr lang="en-US" smtClean="0"/>
              <a:t>12/29/2025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A157BA-1AC0-46EB-8608-226405D7C85E}" type="slidenum">
              <a:rPr lang="en-US" smtClean="0"/>
              <a:t>‹#›</a:t>
            </a:fld>
            <a:endParaRPr lang="en-US"/>
          </a:p>
        </p:txBody>
      </p:sp>
    </p:spTree>
    <p:extLst>
      <p:ext uri="{BB962C8B-B14F-4D97-AF65-F5344CB8AC3E}">
        <p14:creationId xmlns:p14="http://schemas.microsoft.com/office/powerpoint/2010/main" val="1990125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0DE07E4-9C58-4007-A3CD-8D9020E2AABF}"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5A03B6-00EA-481D-8961-7C62D07FEA5A}" type="slidenum">
              <a:rPr lang="en-US" smtClean="0"/>
              <a:t>‹#›</a:t>
            </a:fld>
            <a:endParaRPr lang="en-US"/>
          </a:p>
        </p:txBody>
      </p:sp>
    </p:spTree>
    <p:extLst>
      <p:ext uri="{BB962C8B-B14F-4D97-AF65-F5344CB8AC3E}">
        <p14:creationId xmlns:p14="http://schemas.microsoft.com/office/powerpoint/2010/main" val="32201244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DE07E4-9C58-4007-A3CD-8D9020E2AABF}"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5A03B6-00EA-481D-8961-7C62D07FEA5A}" type="slidenum">
              <a:rPr lang="en-US" smtClean="0"/>
              <a:t>‹#›</a:t>
            </a:fld>
            <a:endParaRPr lang="en-US"/>
          </a:p>
        </p:txBody>
      </p:sp>
    </p:spTree>
    <p:extLst>
      <p:ext uri="{BB962C8B-B14F-4D97-AF65-F5344CB8AC3E}">
        <p14:creationId xmlns:p14="http://schemas.microsoft.com/office/powerpoint/2010/main" val="2234251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E07E4-9C58-4007-A3CD-8D9020E2AABF}"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5A03B6-00EA-481D-8961-7C62D07FEA5A}" type="slidenum">
              <a:rPr lang="en-US" smtClean="0"/>
              <a:t>‹#›</a:t>
            </a:fld>
            <a:endParaRPr lang="en-US"/>
          </a:p>
        </p:txBody>
      </p:sp>
    </p:spTree>
    <p:extLst>
      <p:ext uri="{BB962C8B-B14F-4D97-AF65-F5344CB8AC3E}">
        <p14:creationId xmlns:p14="http://schemas.microsoft.com/office/powerpoint/2010/main" val="4013042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0DE07E4-9C58-4007-A3CD-8D9020E2AABF}" type="datetimeFigureOut">
              <a:rPr lang="en-US" smtClean="0"/>
              <a:t>12/29/2025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5A03B6-00EA-481D-8961-7C62D07FEA5A}" type="slidenum">
              <a:rPr lang="en-US" smtClean="0"/>
              <a:t>‹#›</a:t>
            </a:fld>
            <a:endParaRPr lang="en-US"/>
          </a:p>
        </p:txBody>
      </p:sp>
    </p:spTree>
    <p:extLst>
      <p:ext uri="{BB962C8B-B14F-4D97-AF65-F5344CB8AC3E}">
        <p14:creationId xmlns:p14="http://schemas.microsoft.com/office/powerpoint/2010/main" val="302775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DE07E4-9C58-4007-A3CD-8D9020E2AABF}" type="datetimeFigureOut">
              <a:rPr lang="en-US" smtClean="0"/>
              <a:t>12/29/2025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D5A03B6-00EA-481D-8961-7C62D07FEA5A}" type="slidenum">
              <a:rPr lang="en-US" smtClean="0"/>
              <a:t>‹#›</a:t>
            </a:fld>
            <a:endParaRPr lang="en-US"/>
          </a:p>
        </p:txBody>
      </p:sp>
    </p:spTree>
    <p:extLst>
      <p:ext uri="{BB962C8B-B14F-4D97-AF65-F5344CB8AC3E}">
        <p14:creationId xmlns:p14="http://schemas.microsoft.com/office/powerpoint/2010/main" val="8441202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0DE07E4-9C58-4007-A3CD-8D9020E2AABF}" type="datetimeFigureOut">
              <a:rPr lang="en-US" smtClean="0"/>
              <a:t>12/29/2025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D5A03B6-00EA-481D-8961-7C62D07FEA5A}" type="slidenum">
              <a:rPr lang="en-US" smtClean="0"/>
              <a:t>‹#›</a:t>
            </a:fld>
            <a:endParaRPr lang="en-US"/>
          </a:p>
        </p:txBody>
      </p:sp>
    </p:spTree>
    <p:extLst>
      <p:ext uri="{BB962C8B-B14F-4D97-AF65-F5344CB8AC3E}">
        <p14:creationId xmlns:p14="http://schemas.microsoft.com/office/powerpoint/2010/main" val="4141950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E07E4-9C58-4007-A3CD-8D9020E2AABF}" type="datetimeFigureOut">
              <a:rPr lang="en-US" smtClean="0"/>
              <a:t>12/29/2025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D5A03B6-00EA-481D-8961-7C62D07FEA5A}" type="slidenum">
              <a:rPr lang="en-US" smtClean="0"/>
              <a:t>‹#›</a:t>
            </a:fld>
            <a:endParaRPr lang="en-US"/>
          </a:p>
        </p:txBody>
      </p:sp>
    </p:spTree>
    <p:extLst>
      <p:ext uri="{BB962C8B-B14F-4D97-AF65-F5344CB8AC3E}">
        <p14:creationId xmlns:p14="http://schemas.microsoft.com/office/powerpoint/2010/main" val="3426952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DE07E4-9C58-4007-A3CD-8D9020E2AABF}" type="datetimeFigureOut">
              <a:rPr lang="en-US" smtClean="0"/>
              <a:t>12/29/2025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5A03B6-00EA-481D-8961-7C62D07FEA5A}" type="slidenum">
              <a:rPr lang="en-US" smtClean="0"/>
              <a:t>‹#›</a:t>
            </a:fld>
            <a:endParaRPr lang="en-US"/>
          </a:p>
        </p:txBody>
      </p:sp>
    </p:spTree>
    <p:extLst>
      <p:ext uri="{BB962C8B-B14F-4D97-AF65-F5344CB8AC3E}">
        <p14:creationId xmlns:p14="http://schemas.microsoft.com/office/powerpoint/2010/main" val="1373949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DE07E4-9C58-4007-A3CD-8D9020E2AABF}" type="datetimeFigureOut">
              <a:rPr lang="en-US" smtClean="0"/>
              <a:t>12/29/2025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5A03B6-00EA-481D-8961-7C62D07FEA5A}" type="slidenum">
              <a:rPr lang="en-US" smtClean="0"/>
              <a:t>‹#›</a:t>
            </a:fld>
            <a:endParaRPr lang="en-US"/>
          </a:p>
        </p:txBody>
      </p:sp>
    </p:spTree>
    <p:extLst>
      <p:ext uri="{BB962C8B-B14F-4D97-AF65-F5344CB8AC3E}">
        <p14:creationId xmlns:p14="http://schemas.microsoft.com/office/powerpoint/2010/main" val="1616383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DE07E4-9C58-4007-A3CD-8D9020E2AABF}"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5A03B6-00EA-481D-8961-7C62D07FEA5A}" type="slidenum">
              <a:rPr lang="en-US" smtClean="0"/>
              <a:t>‹#›</a:t>
            </a:fld>
            <a:endParaRPr lang="en-US"/>
          </a:p>
        </p:txBody>
      </p:sp>
    </p:spTree>
    <p:extLst>
      <p:ext uri="{BB962C8B-B14F-4D97-AF65-F5344CB8AC3E}">
        <p14:creationId xmlns:p14="http://schemas.microsoft.com/office/powerpoint/2010/main" val="21492404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DE07E4-9C58-4007-A3CD-8D9020E2AABF}"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5A03B6-00EA-481D-8961-7C62D07FEA5A}" type="slidenum">
              <a:rPr lang="en-US" smtClean="0"/>
              <a:t>‹#›</a:t>
            </a:fld>
            <a:endParaRPr lang="en-US"/>
          </a:p>
        </p:txBody>
      </p:sp>
    </p:spTree>
    <p:extLst>
      <p:ext uri="{BB962C8B-B14F-4D97-AF65-F5344CB8AC3E}">
        <p14:creationId xmlns:p14="http://schemas.microsoft.com/office/powerpoint/2010/main" val="3269355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DE07E4-9C58-4007-A3CD-8D9020E2AABF}" type="datetimeFigureOut">
              <a:rPr lang="en-US" smtClean="0"/>
              <a:t>12/29/2025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5A03B6-00EA-481D-8961-7C62D07FEA5A}" type="slidenum">
              <a:rPr lang="en-US" smtClean="0"/>
              <a:t>‹#›</a:t>
            </a:fld>
            <a:endParaRPr lang="en-US"/>
          </a:p>
        </p:txBody>
      </p:sp>
    </p:spTree>
    <p:extLst>
      <p:ext uri="{BB962C8B-B14F-4D97-AF65-F5344CB8AC3E}">
        <p14:creationId xmlns:p14="http://schemas.microsoft.com/office/powerpoint/2010/main" val="18772065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quandoan.work@gmail.com"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DBDC3A2-9855-64D4-1D12-F6CAB25A81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699" y="630747"/>
            <a:ext cx="2800741" cy="2781688"/>
          </a:xfrm>
          <a:prstGeom prst="ellipse">
            <a:avLst/>
          </a:prstGeom>
          <a:ln>
            <a:noFill/>
          </a:ln>
          <a:effectLst>
            <a:softEdge rad="112500"/>
          </a:effectLst>
        </p:spPr>
      </p:pic>
      <p:sp>
        <p:nvSpPr>
          <p:cNvPr id="6" name="Rectangle 5">
            <a:extLst>
              <a:ext uri="{FF2B5EF4-FFF2-40B4-BE49-F238E27FC236}">
                <a16:creationId xmlns:a16="http://schemas.microsoft.com/office/drawing/2014/main" id="{BDC2794E-17F1-556B-0EE3-C1510C6B7B44}"/>
              </a:ext>
            </a:extLst>
          </p:cNvPr>
          <p:cNvSpPr/>
          <p:nvPr/>
        </p:nvSpPr>
        <p:spPr>
          <a:xfrm>
            <a:off x="3457345" y="1098261"/>
            <a:ext cx="5303824" cy="923330"/>
          </a:xfrm>
          <a:prstGeom prst="rect">
            <a:avLst/>
          </a:prstGeom>
          <a:noFill/>
        </p:spPr>
        <p:txBody>
          <a:bodyPr wrap="none" lIns="91440" tIns="45720" rIns="91440" bIns="45720">
            <a:spAutoFit/>
          </a:bodyPr>
          <a:lstStyle/>
          <a:p>
            <a:pPr algn="ctr"/>
            <a:r>
              <a:rPr lang="en-US" sz="5400" b="1" cap="none" spc="0" dirty="0">
                <a:ln w="0"/>
                <a:solidFill>
                  <a:schemeClr val="tx1"/>
                </a:solidFill>
                <a:effectLst>
                  <a:outerShdw blurRad="38100" dist="19050" dir="2700000" algn="tl" rotWithShape="0">
                    <a:schemeClr val="dk1">
                      <a:alpha val="40000"/>
                    </a:schemeClr>
                  </a:outerShdw>
                </a:effectLst>
              </a:rPr>
              <a:t>DOAN VAN QUAN</a:t>
            </a:r>
          </a:p>
        </p:txBody>
      </p:sp>
      <p:sp>
        <p:nvSpPr>
          <p:cNvPr id="7" name="TextBox 6">
            <a:extLst>
              <a:ext uri="{FF2B5EF4-FFF2-40B4-BE49-F238E27FC236}">
                <a16:creationId xmlns:a16="http://schemas.microsoft.com/office/drawing/2014/main" id="{3507DF1A-4BFC-1DA3-FAFA-3563C17DB75D}"/>
              </a:ext>
            </a:extLst>
          </p:cNvPr>
          <p:cNvSpPr txBox="1"/>
          <p:nvPr/>
        </p:nvSpPr>
        <p:spPr>
          <a:xfrm>
            <a:off x="4019005" y="2021591"/>
            <a:ext cx="4180503" cy="584775"/>
          </a:xfrm>
          <a:prstGeom prst="rect">
            <a:avLst/>
          </a:prstGeom>
          <a:noFill/>
        </p:spPr>
        <p:txBody>
          <a:bodyPr wrap="none" rtlCol="0">
            <a:spAutoFit/>
          </a:bodyPr>
          <a:lstStyle/>
          <a:p>
            <a:r>
              <a:rPr lang="en-US" sz="3200" dirty="0"/>
              <a:t>FULL-STACK DEVELOPER</a:t>
            </a:r>
          </a:p>
        </p:txBody>
      </p:sp>
      <p:sp>
        <p:nvSpPr>
          <p:cNvPr id="8" name="Rectangle 7">
            <a:extLst>
              <a:ext uri="{FF2B5EF4-FFF2-40B4-BE49-F238E27FC236}">
                <a16:creationId xmlns:a16="http://schemas.microsoft.com/office/drawing/2014/main" id="{82362AA7-3FDC-2764-5265-369CAF5B22CD}"/>
              </a:ext>
            </a:extLst>
          </p:cNvPr>
          <p:cNvSpPr/>
          <p:nvPr/>
        </p:nvSpPr>
        <p:spPr>
          <a:xfrm flipV="1">
            <a:off x="662609" y="3429000"/>
            <a:ext cx="8098560" cy="100696"/>
          </a:xfrm>
          <a:prstGeom prst="rect">
            <a:avLst/>
          </a:prstGeom>
          <a:solidFill>
            <a:schemeClr val="tx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8A90259-575A-8161-588F-25D5DC357A1E}"/>
              </a:ext>
            </a:extLst>
          </p:cNvPr>
          <p:cNvSpPr txBox="1"/>
          <p:nvPr/>
        </p:nvSpPr>
        <p:spPr>
          <a:xfrm>
            <a:off x="547699" y="3762196"/>
            <a:ext cx="3348865" cy="707886"/>
          </a:xfrm>
          <a:prstGeom prst="rect">
            <a:avLst/>
          </a:prstGeom>
          <a:noFill/>
        </p:spPr>
        <p:txBody>
          <a:bodyPr wrap="none" rtlCol="0">
            <a:spAutoFit/>
          </a:bodyPr>
          <a:lstStyle/>
          <a:p>
            <a:r>
              <a:rPr lang="en-US" sz="4000" b="1" dirty="0"/>
              <a:t>CONTACT INFO</a:t>
            </a:r>
          </a:p>
        </p:txBody>
      </p:sp>
      <p:sp>
        <p:nvSpPr>
          <p:cNvPr id="10" name="Rectangle 9">
            <a:extLst>
              <a:ext uri="{FF2B5EF4-FFF2-40B4-BE49-F238E27FC236}">
                <a16:creationId xmlns:a16="http://schemas.microsoft.com/office/drawing/2014/main" id="{60D22ED9-E358-275A-5517-FB12694FA1A5}"/>
              </a:ext>
            </a:extLst>
          </p:cNvPr>
          <p:cNvSpPr/>
          <p:nvPr/>
        </p:nvSpPr>
        <p:spPr>
          <a:xfrm>
            <a:off x="662609" y="4397072"/>
            <a:ext cx="3116956" cy="45719"/>
          </a:xfrm>
          <a:prstGeom prst="rect">
            <a:avLst/>
          </a:prstGeom>
          <a:solidFill>
            <a:schemeClr val="tx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28D652D-C0E1-7B58-EEAF-AD94FAD32B63}"/>
              </a:ext>
            </a:extLst>
          </p:cNvPr>
          <p:cNvSpPr txBox="1"/>
          <p:nvPr/>
        </p:nvSpPr>
        <p:spPr>
          <a:xfrm>
            <a:off x="662609" y="4702582"/>
            <a:ext cx="7191264" cy="1938992"/>
          </a:xfrm>
          <a:prstGeom prst="rect">
            <a:avLst/>
          </a:prstGeom>
          <a:noFill/>
        </p:spPr>
        <p:txBody>
          <a:bodyPr wrap="none" rtlCol="0">
            <a:spAutoFit/>
          </a:bodyPr>
          <a:lstStyle/>
          <a:p>
            <a:r>
              <a:rPr lang="en-US" sz="2400" dirty="0"/>
              <a:t>Email:  </a:t>
            </a:r>
            <a:r>
              <a:rPr lang="en-US" sz="2400">
                <a:hlinkClick r:id="rId3"/>
              </a:rPr>
              <a:t>quandoan.work@</a:t>
            </a:r>
            <a:r>
              <a:rPr lang="en-US" sz="2400" dirty="0">
                <a:hlinkClick r:id="rId3"/>
              </a:rPr>
              <a:t>gmail.com</a:t>
            </a:r>
            <a:endParaRPr lang="en-US" sz="2400" dirty="0"/>
          </a:p>
          <a:p>
            <a:r>
              <a:rPr lang="en-US" sz="2400" dirty="0"/>
              <a:t>Phone:  +84 342 568 488</a:t>
            </a:r>
          </a:p>
          <a:p>
            <a:r>
              <a:rPr lang="en-US" sz="2400" dirty="0"/>
              <a:t>Address:  Quan Tien, Tho Vinh, Kim Dong, Hung Yen</a:t>
            </a:r>
          </a:p>
          <a:p>
            <a:r>
              <a:rPr lang="en-US" sz="2400" dirty="0"/>
              <a:t>LinkedIn Profile:  linkedin.com/in/quan-doan-9b4b9b18a</a:t>
            </a:r>
          </a:p>
          <a:p>
            <a:r>
              <a:rPr lang="en-US" sz="2400" dirty="0" err="1"/>
              <a:t>Github</a:t>
            </a:r>
            <a:r>
              <a:rPr lang="en-US" sz="2400" dirty="0"/>
              <a:t>:  https://github.com/xbucks?tab=repositories </a:t>
            </a:r>
          </a:p>
        </p:txBody>
      </p:sp>
    </p:spTree>
    <p:extLst>
      <p:ext uri="{BB962C8B-B14F-4D97-AF65-F5344CB8AC3E}">
        <p14:creationId xmlns:p14="http://schemas.microsoft.com/office/powerpoint/2010/main" val="1095769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78D25-B037-818A-5CB7-6551B6F83F9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CF3F01D-DBB4-3007-6B81-73CA562EADFA}"/>
              </a:ext>
            </a:extLst>
          </p:cNvPr>
          <p:cNvSpPr txBox="1"/>
          <p:nvPr/>
        </p:nvSpPr>
        <p:spPr>
          <a:xfrm>
            <a:off x="547699" y="451836"/>
            <a:ext cx="5846216" cy="707886"/>
          </a:xfrm>
          <a:prstGeom prst="rect">
            <a:avLst/>
          </a:prstGeom>
          <a:noFill/>
        </p:spPr>
        <p:txBody>
          <a:bodyPr wrap="none" rtlCol="0">
            <a:spAutoFit/>
          </a:bodyPr>
          <a:lstStyle/>
          <a:p>
            <a:r>
              <a:rPr lang="en-US" sz="4000" b="1" dirty="0"/>
              <a:t>PROFESSIONAL SUMMARY</a:t>
            </a:r>
          </a:p>
        </p:txBody>
      </p:sp>
      <p:sp>
        <p:nvSpPr>
          <p:cNvPr id="5" name="Rectangle 4">
            <a:extLst>
              <a:ext uri="{FF2B5EF4-FFF2-40B4-BE49-F238E27FC236}">
                <a16:creationId xmlns:a16="http://schemas.microsoft.com/office/drawing/2014/main" id="{101F4243-FBCB-AF0B-712E-3E26F890C4F1}"/>
              </a:ext>
            </a:extLst>
          </p:cNvPr>
          <p:cNvSpPr/>
          <p:nvPr/>
        </p:nvSpPr>
        <p:spPr>
          <a:xfrm flipV="1">
            <a:off x="662610" y="1040993"/>
            <a:ext cx="5587720" cy="45719"/>
          </a:xfrm>
          <a:prstGeom prst="rect">
            <a:avLst/>
          </a:prstGeom>
          <a:solidFill>
            <a:schemeClr val="tx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53BF25A-7293-D93F-97AC-5EC6FD9E2F7E}"/>
              </a:ext>
            </a:extLst>
          </p:cNvPr>
          <p:cNvSpPr txBox="1"/>
          <p:nvPr/>
        </p:nvSpPr>
        <p:spPr>
          <a:xfrm>
            <a:off x="662611" y="1159722"/>
            <a:ext cx="7933690" cy="3693319"/>
          </a:xfrm>
          <a:prstGeom prst="rect">
            <a:avLst/>
          </a:prstGeom>
          <a:noFill/>
        </p:spPr>
        <p:txBody>
          <a:bodyPr wrap="square" rtlCol="0">
            <a:spAutoFit/>
          </a:bodyPr>
          <a:lstStyle/>
          <a:p>
            <a:pPr algn="just"/>
            <a:r>
              <a:rPr lang="en-US" sz="2400" dirty="0"/>
              <a:t>Experienced Full-stack developer and Manager adept in all stages of advanced web development. Knowledgeable in user interface, testing, and debugging processes. Bringing forth expertise in design, installation, testing and maintenance of web systems. Equipped with a diverse and promising skill-set. Proficient in an assortment of technologies, including</a:t>
            </a:r>
            <a:br>
              <a:rPr lang="en-US" sz="2400" dirty="0"/>
            </a:br>
            <a:r>
              <a:rPr lang="en-US" sz="2400" dirty="0"/>
              <a:t>ASP.NET, ASP.NET Core, Python, C#, SQL, NoSQL, </a:t>
            </a:r>
            <a:r>
              <a:rPr lang="en-US" sz="2400" dirty="0" err="1"/>
              <a:t>VueJS</a:t>
            </a:r>
            <a:r>
              <a:rPr lang="en-US" sz="2400" dirty="0"/>
              <a:t>, and JavaScript. Able to effectively self-manage during independent projects, as well as build, manage and collaborate in a team.</a:t>
            </a:r>
            <a:br>
              <a:rPr lang="en-US" dirty="0"/>
            </a:br>
            <a:endParaRPr lang="en-US" dirty="0"/>
          </a:p>
        </p:txBody>
      </p:sp>
      <p:sp>
        <p:nvSpPr>
          <p:cNvPr id="8" name="TextBox 7">
            <a:extLst>
              <a:ext uri="{FF2B5EF4-FFF2-40B4-BE49-F238E27FC236}">
                <a16:creationId xmlns:a16="http://schemas.microsoft.com/office/drawing/2014/main" id="{3028DD77-6BA8-DF30-AA22-70DABB1EA1C5}"/>
              </a:ext>
            </a:extLst>
          </p:cNvPr>
          <p:cNvSpPr txBox="1"/>
          <p:nvPr/>
        </p:nvSpPr>
        <p:spPr>
          <a:xfrm>
            <a:off x="662610" y="4637597"/>
            <a:ext cx="1339810" cy="923330"/>
          </a:xfrm>
          <a:prstGeom prst="rect">
            <a:avLst/>
          </a:prstGeom>
          <a:noFill/>
        </p:spPr>
        <p:txBody>
          <a:bodyPr wrap="square">
            <a:spAutoFit/>
          </a:bodyPr>
          <a:lstStyle/>
          <a:p>
            <a:r>
              <a:rPr lang="en-US" sz="1800" i="0" dirty="0">
                <a:solidFill>
                  <a:srgbClr val="494949"/>
                </a:solidFill>
                <a:effectLst/>
                <a:latin typeface="Prompt-Light"/>
              </a:rPr>
              <a:t>Creativity</a:t>
            </a:r>
            <a:br>
              <a:rPr lang="en-US" sz="1800" i="0" dirty="0">
                <a:solidFill>
                  <a:srgbClr val="494949"/>
                </a:solidFill>
                <a:effectLst/>
                <a:latin typeface="Prompt-Light"/>
              </a:rPr>
            </a:br>
            <a:br>
              <a:rPr lang="en-US" sz="1800" i="0" dirty="0">
                <a:solidFill>
                  <a:srgbClr val="494949"/>
                </a:solidFill>
                <a:effectLst/>
                <a:latin typeface="Prompt-Light"/>
              </a:rPr>
            </a:br>
            <a:endParaRPr lang="en-US" dirty="0"/>
          </a:p>
        </p:txBody>
      </p:sp>
      <p:sp>
        <p:nvSpPr>
          <p:cNvPr id="10" name="TextBox 9">
            <a:extLst>
              <a:ext uri="{FF2B5EF4-FFF2-40B4-BE49-F238E27FC236}">
                <a16:creationId xmlns:a16="http://schemas.microsoft.com/office/drawing/2014/main" id="{1941A29A-F87D-64D8-74B2-68D90E5A6CE7}"/>
              </a:ext>
            </a:extLst>
          </p:cNvPr>
          <p:cNvSpPr txBox="1"/>
          <p:nvPr/>
        </p:nvSpPr>
        <p:spPr>
          <a:xfrm>
            <a:off x="662610" y="4926051"/>
            <a:ext cx="4572000" cy="923330"/>
          </a:xfrm>
          <a:prstGeom prst="rect">
            <a:avLst/>
          </a:prstGeom>
          <a:noFill/>
        </p:spPr>
        <p:txBody>
          <a:bodyPr wrap="square">
            <a:spAutoFit/>
          </a:bodyPr>
          <a:lstStyle/>
          <a:p>
            <a:r>
              <a:rPr lang="en-US" sz="1800" i="0" dirty="0">
                <a:solidFill>
                  <a:srgbClr val="494949"/>
                </a:solidFill>
                <a:effectLst/>
                <a:latin typeface="Prompt-Light"/>
              </a:rPr>
              <a:t>Logical thinking</a:t>
            </a:r>
            <a:br>
              <a:rPr lang="en-US" sz="1800" i="0" dirty="0">
                <a:solidFill>
                  <a:srgbClr val="494949"/>
                </a:solidFill>
                <a:effectLst/>
                <a:latin typeface="Prompt-Light"/>
              </a:rPr>
            </a:br>
            <a:br>
              <a:rPr lang="en-US" sz="1800" i="0" dirty="0">
                <a:solidFill>
                  <a:srgbClr val="494949"/>
                </a:solidFill>
                <a:effectLst/>
                <a:latin typeface="Prompt-Light"/>
              </a:rPr>
            </a:br>
            <a:endParaRPr lang="en-US" dirty="0"/>
          </a:p>
        </p:txBody>
      </p:sp>
      <p:sp>
        <p:nvSpPr>
          <p:cNvPr id="12" name="TextBox 11">
            <a:extLst>
              <a:ext uri="{FF2B5EF4-FFF2-40B4-BE49-F238E27FC236}">
                <a16:creationId xmlns:a16="http://schemas.microsoft.com/office/drawing/2014/main" id="{C4544052-BCE9-18EE-01D3-1D25D2BC117D}"/>
              </a:ext>
            </a:extLst>
          </p:cNvPr>
          <p:cNvSpPr txBox="1"/>
          <p:nvPr/>
        </p:nvSpPr>
        <p:spPr>
          <a:xfrm>
            <a:off x="662610" y="5236613"/>
            <a:ext cx="4572000" cy="923330"/>
          </a:xfrm>
          <a:prstGeom prst="rect">
            <a:avLst/>
          </a:prstGeom>
          <a:noFill/>
        </p:spPr>
        <p:txBody>
          <a:bodyPr wrap="square">
            <a:spAutoFit/>
          </a:bodyPr>
          <a:lstStyle/>
          <a:p>
            <a:r>
              <a:rPr lang="en-US" sz="1800" i="0" dirty="0">
                <a:solidFill>
                  <a:srgbClr val="494949"/>
                </a:solidFill>
                <a:effectLst/>
                <a:latin typeface="Prompt-Light"/>
              </a:rPr>
              <a:t>Communication</a:t>
            </a:r>
            <a:br>
              <a:rPr lang="en-US" sz="1800" i="0" dirty="0">
                <a:solidFill>
                  <a:srgbClr val="494949"/>
                </a:solidFill>
                <a:effectLst/>
                <a:latin typeface="Prompt-Light"/>
              </a:rPr>
            </a:br>
            <a:br>
              <a:rPr lang="en-US" sz="1800" i="0" dirty="0">
                <a:solidFill>
                  <a:srgbClr val="494949"/>
                </a:solidFill>
                <a:effectLst/>
                <a:latin typeface="Prompt-Light"/>
              </a:rPr>
            </a:br>
            <a:endParaRPr lang="en-US" dirty="0"/>
          </a:p>
        </p:txBody>
      </p:sp>
      <p:sp>
        <p:nvSpPr>
          <p:cNvPr id="14" name="TextBox 13">
            <a:extLst>
              <a:ext uri="{FF2B5EF4-FFF2-40B4-BE49-F238E27FC236}">
                <a16:creationId xmlns:a16="http://schemas.microsoft.com/office/drawing/2014/main" id="{500BDB25-8434-47C0-EBB3-0443F3E2E7C6}"/>
              </a:ext>
            </a:extLst>
          </p:cNvPr>
          <p:cNvSpPr txBox="1"/>
          <p:nvPr/>
        </p:nvSpPr>
        <p:spPr>
          <a:xfrm>
            <a:off x="662610" y="5541337"/>
            <a:ext cx="4572000" cy="923330"/>
          </a:xfrm>
          <a:prstGeom prst="rect">
            <a:avLst/>
          </a:prstGeom>
          <a:noFill/>
        </p:spPr>
        <p:txBody>
          <a:bodyPr wrap="square">
            <a:spAutoFit/>
          </a:bodyPr>
          <a:lstStyle/>
          <a:p>
            <a:r>
              <a:rPr lang="en-US" sz="1800" i="0" dirty="0">
                <a:solidFill>
                  <a:srgbClr val="494949"/>
                </a:solidFill>
                <a:effectLst/>
                <a:latin typeface="Prompt-Light"/>
              </a:rPr>
              <a:t>Teamwork</a:t>
            </a:r>
            <a:br>
              <a:rPr lang="en-US" sz="1800" i="0" dirty="0">
                <a:solidFill>
                  <a:srgbClr val="494949"/>
                </a:solidFill>
                <a:effectLst/>
                <a:latin typeface="Prompt-Light"/>
              </a:rPr>
            </a:br>
            <a:br>
              <a:rPr lang="en-US" sz="1800" i="0" dirty="0">
                <a:solidFill>
                  <a:srgbClr val="494949"/>
                </a:solidFill>
                <a:effectLst/>
                <a:latin typeface="Prompt-Light"/>
              </a:rPr>
            </a:br>
            <a:endParaRPr lang="en-US" dirty="0"/>
          </a:p>
        </p:txBody>
      </p:sp>
      <p:sp>
        <p:nvSpPr>
          <p:cNvPr id="16" name="TextBox 15">
            <a:extLst>
              <a:ext uri="{FF2B5EF4-FFF2-40B4-BE49-F238E27FC236}">
                <a16:creationId xmlns:a16="http://schemas.microsoft.com/office/drawing/2014/main" id="{E69FACD8-8F70-ED02-C0DD-04CFE4542956}"/>
              </a:ext>
            </a:extLst>
          </p:cNvPr>
          <p:cNvSpPr txBox="1"/>
          <p:nvPr/>
        </p:nvSpPr>
        <p:spPr>
          <a:xfrm>
            <a:off x="662610" y="5837806"/>
            <a:ext cx="4572000" cy="923330"/>
          </a:xfrm>
          <a:prstGeom prst="rect">
            <a:avLst/>
          </a:prstGeom>
          <a:noFill/>
        </p:spPr>
        <p:txBody>
          <a:bodyPr wrap="square">
            <a:spAutoFit/>
          </a:bodyPr>
          <a:lstStyle/>
          <a:p>
            <a:r>
              <a:rPr lang="en-US" sz="1800" i="0" dirty="0">
                <a:solidFill>
                  <a:srgbClr val="494949"/>
                </a:solidFill>
                <a:effectLst/>
                <a:latin typeface="Prompt-Light"/>
              </a:rPr>
              <a:t>Programming</a:t>
            </a:r>
            <a:br>
              <a:rPr lang="en-US" sz="1800" i="0" dirty="0">
                <a:solidFill>
                  <a:srgbClr val="494949"/>
                </a:solidFill>
                <a:effectLst/>
                <a:latin typeface="Prompt-Light"/>
              </a:rPr>
            </a:br>
            <a:br>
              <a:rPr lang="en-US" sz="1800" i="0" dirty="0">
                <a:solidFill>
                  <a:srgbClr val="494949"/>
                </a:solidFill>
                <a:effectLst/>
                <a:latin typeface="Prompt-Light"/>
              </a:rPr>
            </a:br>
            <a:endParaRPr lang="en-US" dirty="0"/>
          </a:p>
        </p:txBody>
      </p:sp>
      <p:sp>
        <p:nvSpPr>
          <p:cNvPr id="18" name="TextBox 17">
            <a:extLst>
              <a:ext uri="{FF2B5EF4-FFF2-40B4-BE49-F238E27FC236}">
                <a16:creationId xmlns:a16="http://schemas.microsoft.com/office/drawing/2014/main" id="{C6DA786C-B512-E357-0DC0-A1DEF7E2AB6A}"/>
              </a:ext>
            </a:extLst>
          </p:cNvPr>
          <p:cNvSpPr txBox="1"/>
          <p:nvPr/>
        </p:nvSpPr>
        <p:spPr>
          <a:xfrm>
            <a:off x="662610" y="6134275"/>
            <a:ext cx="4572000" cy="923330"/>
          </a:xfrm>
          <a:prstGeom prst="rect">
            <a:avLst/>
          </a:prstGeom>
          <a:noFill/>
        </p:spPr>
        <p:txBody>
          <a:bodyPr wrap="square">
            <a:spAutoFit/>
          </a:bodyPr>
          <a:lstStyle/>
          <a:p>
            <a:r>
              <a:rPr lang="en-US" sz="1800" i="0" dirty="0">
                <a:solidFill>
                  <a:srgbClr val="494949"/>
                </a:solidFill>
                <a:effectLst/>
                <a:latin typeface="Prompt-Light"/>
              </a:rPr>
              <a:t>Project management</a:t>
            </a:r>
            <a:br>
              <a:rPr lang="en-US" sz="1800" i="0" dirty="0">
                <a:solidFill>
                  <a:srgbClr val="494949"/>
                </a:solidFill>
                <a:effectLst/>
                <a:latin typeface="Prompt-Light"/>
              </a:rPr>
            </a:br>
            <a:br>
              <a:rPr lang="en-US" sz="1800" i="0" dirty="0">
                <a:solidFill>
                  <a:srgbClr val="494949"/>
                </a:solidFill>
                <a:effectLst/>
                <a:latin typeface="Prompt-Light"/>
              </a:rPr>
            </a:br>
            <a:endParaRPr lang="en-US" dirty="0"/>
          </a:p>
        </p:txBody>
      </p:sp>
      <p:sp>
        <p:nvSpPr>
          <p:cNvPr id="20" name="Arrow: Right 19">
            <a:extLst>
              <a:ext uri="{FF2B5EF4-FFF2-40B4-BE49-F238E27FC236}">
                <a16:creationId xmlns:a16="http://schemas.microsoft.com/office/drawing/2014/main" id="{98DDA904-272A-7A96-E6C5-83C0628F744A}"/>
              </a:ext>
            </a:extLst>
          </p:cNvPr>
          <p:cNvSpPr/>
          <p:nvPr/>
        </p:nvSpPr>
        <p:spPr>
          <a:xfrm>
            <a:off x="3157953" y="4652484"/>
            <a:ext cx="4988689" cy="298700"/>
          </a:xfrm>
          <a:prstGeom prst="rightArrow">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1" name="Arrow: Right 20">
            <a:extLst>
              <a:ext uri="{FF2B5EF4-FFF2-40B4-BE49-F238E27FC236}">
                <a16:creationId xmlns:a16="http://schemas.microsoft.com/office/drawing/2014/main" id="{22F84FD1-5B93-F700-A74C-A67919F594CD}"/>
              </a:ext>
            </a:extLst>
          </p:cNvPr>
          <p:cNvSpPr/>
          <p:nvPr/>
        </p:nvSpPr>
        <p:spPr>
          <a:xfrm>
            <a:off x="3157953" y="4969108"/>
            <a:ext cx="4988689" cy="298700"/>
          </a:xfrm>
          <a:prstGeom prst="rightArrow">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AD7A6972-BDAA-2AAF-D9B6-993224BB36EC}"/>
              </a:ext>
            </a:extLst>
          </p:cNvPr>
          <p:cNvSpPr/>
          <p:nvPr/>
        </p:nvSpPr>
        <p:spPr>
          <a:xfrm>
            <a:off x="3157953" y="5269667"/>
            <a:ext cx="4988689" cy="298700"/>
          </a:xfrm>
          <a:prstGeom prst="rightArrow">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3" name="Arrow: Right 22">
            <a:extLst>
              <a:ext uri="{FF2B5EF4-FFF2-40B4-BE49-F238E27FC236}">
                <a16:creationId xmlns:a16="http://schemas.microsoft.com/office/drawing/2014/main" id="{468C35F8-1986-3D17-6804-5526BF4E79B9}"/>
              </a:ext>
            </a:extLst>
          </p:cNvPr>
          <p:cNvSpPr/>
          <p:nvPr/>
        </p:nvSpPr>
        <p:spPr>
          <a:xfrm>
            <a:off x="3157954" y="5573758"/>
            <a:ext cx="4988689" cy="298700"/>
          </a:xfrm>
          <a:prstGeom prst="rightArrow">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5" name="Arrow: Right 24">
            <a:extLst>
              <a:ext uri="{FF2B5EF4-FFF2-40B4-BE49-F238E27FC236}">
                <a16:creationId xmlns:a16="http://schemas.microsoft.com/office/drawing/2014/main" id="{7FB26486-CE71-1BF7-27FE-14A128385A67}"/>
              </a:ext>
            </a:extLst>
          </p:cNvPr>
          <p:cNvSpPr/>
          <p:nvPr/>
        </p:nvSpPr>
        <p:spPr>
          <a:xfrm>
            <a:off x="3157954" y="5865952"/>
            <a:ext cx="4988689" cy="298700"/>
          </a:xfrm>
          <a:prstGeom prst="rightArrow">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7" name="Arrow: Right 26">
            <a:extLst>
              <a:ext uri="{FF2B5EF4-FFF2-40B4-BE49-F238E27FC236}">
                <a16:creationId xmlns:a16="http://schemas.microsoft.com/office/drawing/2014/main" id="{1BBFCAF2-57DC-0469-F890-32C508FA2A2C}"/>
              </a:ext>
            </a:extLst>
          </p:cNvPr>
          <p:cNvSpPr/>
          <p:nvPr/>
        </p:nvSpPr>
        <p:spPr>
          <a:xfrm>
            <a:off x="3157953" y="6158828"/>
            <a:ext cx="4988689" cy="298700"/>
          </a:xfrm>
          <a:prstGeom prst="rightArrow">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9" name="Star: 32 Points 28">
            <a:extLst>
              <a:ext uri="{FF2B5EF4-FFF2-40B4-BE49-F238E27FC236}">
                <a16:creationId xmlns:a16="http://schemas.microsoft.com/office/drawing/2014/main" id="{0C0B2F88-8ED5-1A7C-86AD-F9C1BE0FAD0B}"/>
              </a:ext>
            </a:extLst>
          </p:cNvPr>
          <p:cNvSpPr/>
          <p:nvPr/>
        </p:nvSpPr>
        <p:spPr>
          <a:xfrm>
            <a:off x="8137003" y="4652484"/>
            <a:ext cx="636607" cy="1812184"/>
          </a:xfrm>
          <a:prstGeom prst="star32">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100</a:t>
            </a:r>
          </a:p>
        </p:txBody>
      </p:sp>
    </p:spTree>
    <p:extLst>
      <p:ext uri="{BB962C8B-B14F-4D97-AF65-F5344CB8AC3E}">
        <p14:creationId xmlns:p14="http://schemas.microsoft.com/office/powerpoint/2010/main" val="42659844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8D1A3B5-7A09-3E16-88B3-DDEFD20D562C}"/>
              </a:ext>
            </a:extLst>
          </p:cNvPr>
          <p:cNvSpPr txBox="1"/>
          <p:nvPr/>
        </p:nvSpPr>
        <p:spPr>
          <a:xfrm>
            <a:off x="547699" y="451836"/>
            <a:ext cx="4262834" cy="707886"/>
          </a:xfrm>
          <a:prstGeom prst="rect">
            <a:avLst/>
          </a:prstGeom>
          <a:noFill/>
        </p:spPr>
        <p:txBody>
          <a:bodyPr wrap="none" rtlCol="0">
            <a:spAutoFit/>
          </a:bodyPr>
          <a:lstStyle/>
          <a:p>
            <a:r>
              <a:rPr lang="en-US" sz="4000" b="1" dirty="0"/>
              <a:t>WORK EXPERIENCE</a:t>
            </a:r>
          </a:p>
        </p:txBody>
      </p:sp>
      <p:sp>
        <p:nvSpPr>
          <p:cNvPr id="5" name="Rectangle 4">
            <a:extLst>
              <a:ext uri="{FF2B5EF4-FFF2-40B4-BE49-F238E27FC236}">
                <a16:creationId xmlns:a16="http://schemas.microsoft.com/office/drawing/2014/main" id="{345A375F-5A2B-D350-371D-2CC57DB3ABAD}"/>
              </a:ext>
            </a:extLst>
          </p:cNvPr>
          <p:cNvSpPr/>
          <p:nvPr/>
        </p:nvSpPr>
        <p:spPr>
          <a:xfrm flipV="1">
            <a:off x="662610" y="1040992"/>
            <a:ext cx="4025137" cy="45719"/>
          </a:xfrm>
          <a:prstGeom prst="rect">
            <a:avLst/>
          </a:prstGeom>
          <a:solidFill>
            <a:schemeClr val="tx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4E0459F-1099-23C1-D2D3-ECADFF675D39}"/>
              </a:ext>
            </a:extLst>
          </p:cNvPr>
          <p:cNvSpPr txBox="1"/>
          <p:nvPr/>
        </p:nvSpPr>
        <p:spPr>
          <a:xfrm>
            <a:off x="662610" y="1533249"/>
            <a:ext cx="8481390" cy="5386090"/>
          </a:xfrm>
          <a:prstGeom prst="rect">
            <a:avLst/>
          </a:prstGeom>
          <a:noFill/>
        </p:spPr>
        <p:txBody>
          <a:bodyPr wrap="square" rtlCol="0">
            <a:spAutoFit/>
          </a:bodyPr>
          <a:lstStyle/>
          <a:p>
            <a:r>
              <a:rPr lang="en-US" sz="2000" b="1" dirty="0">
                <a:solidFill>
                  <a:srgbClr val="FF0000"/>
                </a:solidFill>
              </a:rPr>
              <a:t>Software Engineer</a:t>
            </a:r>
            <a:br>
              <a:rPr lang="en-US" dirty="0"/>
            </a:br>
            <a:r>
              <a:rPr lang="en-US" dirty="0"/>
              <a:t>Main responsibilities:</a:t>
            </a:r>
            <a:br>
              <a:rPr lang="en-US" dirty="0"/>
            </a:br>
            <a:r>
              <a:rPr lang="en-US" dirty="0"/>
              <a:t>- Worked as a productive and positive team member to design, code, test, report, and debug operations.</a:t>
            </a:r>
            <a:br>
              <a:rPr lang="en-US" dirty="0"/>
            </a:br>
            <a:r>
              <a:rPr lang="en-US" dirty="0"/>
              <a:t>- Managed and Develop front-end and back-end development in the company's Product systems.</a:t>
            </a:r>
            <a:br>
              <a:rPr lang="en-US" dirty="0"/>
            </a:br>
            <a:r>
              <a:rPr lang="en-US" dirty="0"/>
              <a:t>- Successfully identified, diagnosed, and fixed website problems, including broken links, typographical errors, and formatting issues.</a:t>
            </a:r>
            <a:br>
              <a:rPr lang="en-US" dirty="0"/>
            </a:br>
            <a:r>
              <a:rPr lang="en-US" dirty="0"/>
              <a:t>- Develop and optimize desktop applications such as tools and workers for specialized functions including database conversion, database synchronization, and so on.</a:t>
            </a:r>
            <a:br>
              <a:rPr lang="en-US" dirty="0"/>
            </a:br>
            <a:r>
              <a:rPr lang="en-US" dirty="0"/>
              <a:t>- Worked to assess competing websites in regard to content, look, and feel.</a:t>
            </a:r>
            <a:br>
              <a:rPr lang="en-US" dirty="0"/>
            </a:br>
            <a:r>
              <a:rPr lang="en-US" dirty="0"/>
              <a:t>- Evaluated and became knowledgeable in new standards, technologies, and trends in website development.</a:t>
            </a:r>
            <a:br>
              <a:rPr lang="en-US" dirty="0"/>
            </a:br>
            <a:r>
              <a:rPr lang="en-US" dirty="0"/>
              <a:t>- Providing mentorship to new software engineers.</a:t>
            </a:r>
            <a:br>
              <a:rPr lang="en-US" dirty="0"/>
            </a:br>
            <a:r>
              <a:rPr lang="en-US" dirty="0"/>
              <a:t>- Contributing to software design and documentation.</a:t>
            </a:r>
            <a:br>
              <a:rPr lang="en-US" dirty="0"/>
            </a:br>
            <a:r>
              <a:rPr lang="en-US" dirty="0"/>
              <a:t>- Providing agile estimation of development effort and input into project timelines</a:t>
            </a:r>
          </a:p>
          <a:p>
            <a:br>
              <a:rPr lang="en-US" dirty="0"/>
            </a:br>
            <a:r>
              <a:rPr lang="en-US" dirty="0" err="1"/>
              <a:t>Techstacks</a:t>
            </a:r>
            <a:r>
              <a:rPr lang="en-US" dirty="0"/>
              <a:t>:</a:t>
            </a:r>
            <a:br>
              <a:rPr lang="en-US" dirty="0"/>
            </a:br>
            <a:r>
              <a:rPr lang="en-US" dirty="0"/>
              <a:t>- .NET Core, </a:t>
            </a:r>
            <a:r>
              <a:rPr lang="en-US" dirty="0" err="1"/>
              <a:t>VueJS</a:t>
            </a:r>
            <a:r>
              <a:rPr lang="en-US" dirty="0"/>
              <a:t>, ReactJS, PostgreSQL, SQL Server, </a:t>
            </a:r>
            <a:r>
              <a:rPr lang="en-US" dirty="0" err="1"/>
              <a:t>Stimulsoft</a:t>
            </a:r>
            <a:r>
              <a:rPr lang="en-US" dirty="0"/>
              <a:t>, WPF, Python</a:t>
            </a:r>
          </a:p>
        </p:txBody>
      </p:sp>
      <p:sp>
        <p:nvSpPr>
          <p:cNvPr id="30" name="TextBox 29">
            <a:extLst>
              <a:ext uri="{FF2B5EF4-FFF2-40B4-BE49-F238E27FC236}">
                <a16:creationId xmlns:a16="http://schemas.microsoft.com/office/drawing/2014/main" id="{D36FD15D-B4F2-42BA-117E-128D369643AB}"/>
              </a:ext>
            </a:extLst>
          </p:cNvPr>
          <p:cNvSpPr txBox="1"/>
          <p:nvPr/>
        </p:nvSpPr>
        <p:spPr>
          <a:xfrm>
            <a:off x="662610" y="1168394"/>
            <a:ext cx="4044441" cy="461665"/>
          </a:xfrm>
          <a:prstGeom prst="rect">
            <a:avLst/>
          </a:prstGeom>
          <a:noFill/>
        </p:spPr>
        <p:txBody>
          <a:bodyPr wrap="none" rtlCol="0">
            <a:spAutoFit/>
          </a:bodyPr>
          <a:lstStyle/>
          <a:p>
            <a:r>
              <a:rPr lang="en-US" sz="2400" b="1" dirty="0"/>
              <a:t>Jan 2019 ~ Feb 2022, MISA JSC</a:t>
            </a:r>
          </a:p>
        </p:txBody>
      </p:sp>
    </p:spTree>
    <p:extLst>
      <p:ext uri="{BB962C8B-B14F-4D97-AF65-F5344CB8AC3E}">
        <p14:creationId xmlns:p14="http://schemas.microsoft.com/office/powerpoint/2010/main" val="4691933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C124A-1D57-F08B-2F27-86654E3079B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10190D2-00BD-4900-7405-19F882378A76}"/>
              </a:ext>
            </a:extLst>
          </p:cNvPr>
          <p:cNvSpPr txBox="1"/>
          <p:nvPr/>
        </p:nvSpPr>
        <p:spPr>
          <a:xfrm>
            <a:off x="662610" y="989245"/>
            <a:ext cx="8180448" cy="5386090"/>
          </a:xfrm>
          <a:prstGeom prst="rect">
            <a:avLst/>
          </a:prstGeom>
          <a:noFill/>
        </p:spPr>
        <p:txBody>
          <a:bodyPr wrap="square" rtlCol="0">
            <a:spAutoFit/>
          </a:bodyPr>
          <a:lstStyle/>
          <a:p>
            <a:r>
              <a:rPr lang="en-US" sz="2000" b="1" dirty="0">
                <a:solidFill>
                  <a:srgbClr val="FF0000"/>
                </a:solidFill>
              </a:rPr>
              <a:t>Software Engineer</a:t>
            </a:r>
            <a:br>
              <a:rPr lang="en-US" dirty="0"/>
            </a:br>
            <a:r>
              <a:rPr lang="en-US" dirty="0"/>
              <a:t>Main responsibilities:</a:t>
            </a:r>
            <a:br>
              <a:rPr lang="en-US" dirty="0"/>
            </a:br>
            <a:r>
              <a:rPr lang="en-US" dirty="0"/>
              <a:t>- Working closely with other members of the development team through the full systems lifecycle including requirements capture, design, development, testing, and deployment of APIs.</a:t>
            </a:r>
            <a:br>
              <a:rPr lang="en-US" dirty="0"/>
            </a:br>
            <a:r>
              <a:rPr lang="en-US" dirty="0"/>
              <a:t>- Fixing bugs from existing websites and implementing enhancements that improved web functionality and speed.</a:t>
            </a:r>
          </a:p>
          <a:p>
            <a:r>
              <a:rPr lang="en-US" dirty="0"/>
              <a:t>- Written client validations and asynchronous importing views for showing popups on the site</a:t>
            </a:r>
          </a:p>
          <a:p>
            <a:r>
              <a:rPr lang="en-US" dirty="0"/>
              <a:t>- Create database procedures and functions and optimize existing queries.</a:t>
            </a:r>
            <a:br>
              <a:rPr lang="en-US" dirty="0"/>
            </a:br>
            <a:r>
              <a:rPr lang="en-US" dirty="0"/>
              <a:t>- Analyze and design authentication flow in the current system then implement it over the backend gateway.</a:t>
            </a:r>
            <a:br>
              <a:rPr lang="en-US" dirty="0"/>
            </a:br>
            <a:r>
              <a:rPr lang="en-US" dirty="0"/>
              <a:t>- Handle transaction requests from the internal admin portal with an optimized solution.</a:t>
            </a:r>
            <a:br>
              <a:rPr lang="en-US" dirty="0"/>
            </a:br>
            <a:r>
              <a:rPr lang="en-US" dirty="0"/>
              <a:t>- Design, implement, and optimize price mechanisms to work more efficiently and reliably.</a:t>
            </a:r>
          </a:p>
          <a:p>
            <a:br>
              <a:rPr lang="en-US" dirty="0"/>
            </a:br>
            <a:r>
              <a:rPr lang="en-US" dirty="0" err="1"/>
              <a:t>Techstacks</a:t>
            </a:r>
            <a:r>
              <a:rPr lang="en-US" dirty="0"/>
              <a:t>:</a:t>
            </a:r>
            <a:br>
              <a:rPr lang="en-US" dirty="0"/>
            </a:br>
            <a:r>
              <a:rPr lang="en-US" dirty="0"/>
              <a:t>- .NET Core, </a:t>
            </a:r>
            <a:r>
              <a:rPr lang="en-US" dirty="0" err="1"/>
              <a:t>VueJS</a:t>
            </a:r>
            <a:r>
              <a:rPr lang="en-US" dirty="0"/>
              <a:t>, </a:t>
            </a:r>
            <a:r>
              <a:rPr lang="en-US" dirty="0" err="1"/>
              <a:t>OracleSQL</a:t>
            </a:r>
            <a:r>
              <a:rPr lang="en-US" dirty="0"/>
              <a:t>, </a:t>
            </a:r>
            <a:r>
              <a:rPr lang="en-US" dirty="0" err="1"/>
              <a:t>Keycloak</a:t>
            </a:r>
            <a:r>
              <a:rPr lang="en-US" dirty="0"/>
              <a:t>, AWS</a:t>
            </a:r>
          </a:p>
        </p:txBody>
      </p:sp>
      <p:sp>
        <p:nvSpPr>
          <p:cNvPr id="30" name="TextBox 29">
            <a:extLst>
              <a:ext uri="{FF2B5EF4-FFF2-40B4-BE49-F238E27FC236}">
                <a16:creationId xmlns:a16="http://schemas.microsoft.com/office/drawing/2014/main" id="{15ADA804-F5D0-E14A-4E84-FD96D0E052E2}"/>
              </a:ext>
            </a:extLst>
          </p:cNvPr>
          <p:cNvSpPr txBox="1"/>
          <p:nvPr/>
        </p:nvSpPr>
        <p:spPr>
          <a:xfrm>
            <a:off x="662610" y="531791"/>
            <a:ext cx="4175887" cy="461665"/>
          </a:xfrm>
          <a:prstGeom prst="rect">
            <a:avLst/>
          </a:prstGeom>
          <a:noFill/>
        </p:spPr>
        <p:txBody>
          <a:bodyPr wrap="none" rtlCol="0">
            <a:spAutoFit/>
          </a:bodyPr>
          <a:lstStyle/>
          <a:p>
            <a:r>
              <a:rPr lang="en-US" sz="2400" b="1" dirty="0"/>
              <a:t>Feb 2022 ~ Dec 2022, SAFIN JSC</a:t>
            </a:r>
          </a:p>
        </p:txBody>
      </p:sp>
    </p:spTree>
    <p:extLst>
      <p:ext uri="{BB962C8B-B14F-4D97-AF65-F5344CB8AC3E}">
        <p14:creationId xmlns:p14="http://schemas.microsoft.com/office/powerpoint/2010/main" val="71852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51CAD-C672-AB95-2F6A-9FAC98F7C79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3953ACB-E8EA-CB1F-6641-24EFA275C22C}"/>
              </a:ext>
            </a:extLst>
          </p:cNvPr>
          <p:cNvSpPr txBox="1"/>
          <p:nvPr/>
        </p:nvSpPr>
        <p:spPr>
          <a:xfrm>
            <a:off x="662610" y="989245"/>
            <a:ext cx="8180448" cy="5663089"/>
          </a:xfrm>
          <a:prstGeom prst="rect">
            <a:avLst/>
          </a:prstGeom>
          <a:noFill/>
        </p:spPr>
        <p:txBody>
          <a:bodyPr wrap="square" rtlCol="0">
            <a:spAutoFit/>
          </a:bodyPr>
          <a:lstStyle/>
          <a:p>
            <a:r>
              <a:rPr lang="en-US" sz="2000" b="1" dirty="0">
                <a:solidFill>
                  <a:srgbClr val="FF0000"/>
                </a:solidFill>
              </a:rPr>
              <a:t>Full-stack developer &amp; Technical Leader</a:t>
            </a:r>
            <a:br>
              <a:rPr lang="en-US" dirty="0"/>
            </a:br>
            <a:r>
              <a:rPr lang="en-US" dirty="0"/>
              <a:t>Main responsibilities:</a:t>
            </a:r>
            <a:br>
              <a:rPr lang="en-US" dirty="0"/>
            </a:br>
            <a:r>
              <a:rPr lang="en-US" dirty="0"/>
              <a:t>- Research, analyze, and find solutions for addressing security vulnerabilities in insurance systems based on reports from KPMG, Veracode, and Synopsys.</a:t>
            </a:r>
            <a:br>
              <a:rPr lang="en-US" dirty="0"/>
            </a:br>
            <a:r>
              <a:rPr lang="en-US" dirty="0"/>
              <a:t>- Migrate legacy ASP.NET web systems to the Azure Cloud environment.</a:t>
            </a:r>
            <a:br>
              <a:rPr lang="en-US" dirty="0"/>
            </a:br>
            <a:r>
              <a:rPr lang="en-US" dirty="0"/>
              <a:t>- Take responsibility for deploying and resolving issues during the migration process.</a:t>
            </a:r>
            <a:br>
              <a:rPr lang="en-US" dirty="0"/>
            </a:br>
            <a:r>
              <a:rPr lang="en-US" dirty="0"/>
              <a:t>- Work directly with customers on daily meetings, addressing issues and providing technical solutions.</a:t>
            </a:r>
            <a:br>
              <a:rPr lang="en-US" dirty="0"/>
            </a:br>
            <a:r>
              <a:rPr lang="en-US" dirty="0"/>
              <a:t>- Elevated legacy systems to advanced versions for enhanced performance.</a:t>
            </a:r>
            <a:br>
              <a:rPr lang="en-US" dirty="0"/>
            </a:br>
            <a:r>
              <a:rPr lang="en-US" dirty="0"/>
              <a:t>- Diligently upheld and troubleshooted existing systems, resolving complex issues.</a:t>
            </a:r>
            <a:br>
              <a:rPr lang="en-US" dirty="0"/>
            </a:br>
            <a:r>
              <a:rPr lang="en-US" dirty="0"/>
              <a:t>- Analyzed both functional and non-functional challenges, offering innovative technical architectures and solutions.</a:t>
            </a:r>
            <a:br>
              <a:rPr lang="en-US" dirty="0"/>
            </a:br>
            <a:r>
              <a:rPr lang="en-US" dirty="0"/>
              <a:t>- Produced comprehensive diagrams and technical documentation for effective team communication.</a:t>
            </a:r>
            <a:br>
              <a:rPr lang="en-US" dirty="0"/>
            </a:br>
            <a:r>
              <a:rPr lang="en-US" dirty="0"/>
              <a:t>- Collaborated with fellow developers by reviewing and providing constructive comments, fostering a collective approach to achieving success.</a:t>
            </a:r>
            <a:br>
              <a:rPr lang="en-US" dirty="0"/>
            </a:br>
            <a:r>
              <a:rPr lang="en-US" dirty="0"/>
              <a:t>- Spearheaded a successful project, garnering high client appreciation through effective team leadership.</a:t>
            </a:r>
          </a:p>
          <a:p>
            <a:br>
              <a:rPr lang="en-US" dirty="0"/>
            </a:br>
            <a:r>
              <a:rPr lang="en-US" dirty="0" err="1"/>
              <a:t>Techstacks</a:t>
            </a:r>
            <a:r>
              <a:rPr lang="en-US" dirty="0"/>
              <a:t>: - .NET Core, .NET </a:t>
            </a:r>
            <a:r>
              <a:rPr lang="en-US" dirty="0" err="1"/>
              <a:t>Framwork</a:t>
            </a:r>
            <a:r>
              <a:rPr lang="en-US" dirty="0"/>
              <a:t>, Security, Kafka, SQL Server, Azure</a:t>
            </a:r>
          </a:p>
        </p:txBody>
      </p:sp>
      <p:sp>
        <p:nvSpPr>
          <p:cNvPr id="30" name="TextBox 29">
            <a:extLst>
              <a:ext uri="{FF2B5EF4-FFF2-40B4-BE49-F238E27FC236}">
                <a16:creationId xmlns:a16="http://schemas.microsoft.com/office/drawing/2014/main" id="{3CDC05B6-ADB4-75E4-91FD-4211175ABD07}"/>
              </a:ext>
            </a:extLst>
          </p:cNvPr>
          <p:cNvSpPr txBox="1"/>
          <p:nvPr/>
        </p:nvSpPr>
        <p:spPr>
          <a:xfrm>
            <a:off x="662610" y="531791"/>
            <a:ext cx="5373843" cy="461665"/>
          </a:xfrm>
          <a:prstGeom prst="rect">
            <a:avLst/>
          </a:prstGeom>
          <a:noFill/>
        </p:spPr>
        <p:txBody>
          <a:bodyPr wrap="none" rtlCol="0">
            <a:spAutoFit/>
          </a:bodyPr>
          <a:lstStyle/>
          <a:p>
            <a:r>
              <a:rPr lang="en-US" sz="2400" b="1" dirty="0"/>
              <a:t>Dec 2022 ~ Apr 2025, NTQ SOLUTION JSC</a:t>
            </a:r>
          </a:p>
        </p:txBody>
      </p:sp>
    </p:spTree>
    <p:extLst>
      <p:ext uri="{BB962C8B-B14F-4D97-AF65-F5344CB8AC3E}">
        <p14:creationId xmlns:p14="http://schemas.microsoft.com/office/powerpoint/2010/main" val="6266646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AAC5D-8473-2182-4C89-55414CCFF74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BC72A00-1B3E-1536-9F86-563CB9B8D18F}"/>
              </a:ext>
            </a:extLst>
          </p:cNvPr>
          <p:cNvSpPr txBox="1"/>
          <p:nvPr/>
        </p:nvSpPr>
        <p:spPr>
          <a:xfrm>
            <a:off x="662610" y="989245"/>
            <a:ext cx="8180448" cy="5940088"/>
          </a:xfrm>
          <a:prstGeom prst="rect">
            <a:avLst/>
          </a:prstGeom>
          <a:noFill/>
        </p:spPr>
        <p:txBody>
          <a:bodyPr wrap="square" rtlCol="0">
            <a:spAutoFit/>
          </a:bodyPr>
          <a:lstStyle/>
          <a:p>
            <a:r>
              <a:rPr lang="en-US" sz="2000" b="1" dirty="0">
                <a:solidFill>
                  <a:srgbClr val="FF0000"/>
                </a:solidFill>
              </a:rPr>
              <a:t>Full-stack developer &amp; Project Manager</a:t>
            </a:r>
            <a:br>
              <a:rPr lang="en-US" dirty="0"/>
            </a:br>
            <a:r>
              <a:rPr lang="en-US" dirty="0"/>
              <a:t>Main responsibilities:</a:t>
            </a:r>
            <a:br>
              <a:rPr lang="en-US" dirty="0"/>
            </a:br>
            <a:r>
              <a:rPr lang="en-US" dirty="0"/>
              <a:t>- Team Leadership and Development: Recruiting, training, and mentoring team members to foster a productive and cohesive work environment.</a:t>
            </a:r>
            <a:br>
              <a:rPr lang="en-US" dirty="0"/>
            </a:br>
            <a:r>
              <a:rPr lang="en-US" dirty="0"/>
              <a:t>- Strategic Planning: Setting goals, defining strategies, and aligning team efforts with the startup's vision and objectives.</a:t>
            </a:r>
            <a:br>
              <a:rPr lang="en-US" dirty="0"/>
            </a:br>
            <a:r>
              <a:rPr lang="en-US" dirty="0"/>
              <a:t>- Project Management: Overseeing project timelines, resource allocation, and ensuring successful project completion within budget and scope.</a:t>
            </a:r>
            <a:br>
              <a:rPr lang="en-US" dirty="0"/>
            </a:br>
            <a:r>
              <a:rPr lang="en-US" dirty="0"/>
              <a:t>- Communication: Facilitating clear and effective communication within the team and with stakeholders, including investors and customers.</a:t>
            </a:r>
            <a:br>
              <a:rPr lang="en-US" dirty="0"/>
            </a:br>
            <a:r>
              <a:rPr lang="en-US" dirty="0"/>
              <a:t>- Problem-Solving: Addressing and resolving technical and operational challenges to maintain workflow and product quality.</a:t>
            </a:r>
            <a:br>
              <a:rPr lang="en-US" dirty="0"/>
            </a:br>
            <a:r>
              <a:rPr lang="en-US" dirty="0"/>
              <a:t>- Financial Management: Monitoring budgets, expenses, and financial performance to ensure sustainable growth and profitability.</a:t>
            </a:r>
            <a:br>
              <a:rPr lang="en-US" dirty="0"/>
            </a:br>
            <a:r>
              <a:rPr lang="en-US" dirty="0"/>
              <a:t>- Innovation and Product Development: Driving the development and enhancement of products or services to stay competitive and meet market demands.</a:t>
            </a:r>
          </a:p>
          <a:p>
            <a:br>
              <a:rPr lang="en-US" dirty="0"/>
            </a:br>
            <a:r>
              <a:rPr lang="en-US" dirty="0" err="1"/>
              <a:t>Techstacks</a:t>
            </a:r>
            <a:r>
              <a:rPr lang="en-US" dirty="0"/>
              <a:t>:</a:t>
            </a:r>
            <a:br>
              <a:rPr lang="en-US" dirty="0"/>
            </a:br>
            <a:r>
              <a:rPr lang="en-US" dirty="0"/>
              <a:t>- Python, Golang, </a:t>
            </a:r>
            <a:r>
              <a:rPr lang="en-US" dirty="0" err="1"/>
              <a:t>SolidJS</a:t>
            </a:r>
            <a:r>
              <a:rPr lang="en-US" dirty="0"/>
              <a:t>, MySQL, Kafka, K8s</a:t>
            </a:r>
            <a:br>
              <a:rPr lang="en-US" dirty="0"/>
            </a:br>
            <a:br>
              <a:rPr lang="en-US" dirty="0"/>
            </a:br>
            <a:endParaRPr lang="en-US" dirty="0"/>
          </a:p>
        </p:txBody>
      </p:sp>
      <p:sp>
        <p:nvSpPr>
          <p:cNvPr id="30" name="TextBox 29">
            <a:extLst>
              <a:ext uri="{FF2B5EF4-FFF2-40B4-BE49-F238E27FC236}">
                <a16:creationId xmlns:a16="http://schemas.microsoft.com/office/drawing/2014/main" id="{8370A9A7-50FE-5D2E-09F6-8A6499F77999}"/>
              </a:ext>
            </a:extLst>
          </p:cNvPr>
          <p:cNvSpPr txBox="1"/>
          <p:nvPr/>
        </p:nvSpPr>
        <p:spPr>
          <a:xfrm>
            <a:off x="662610" y="531791"/>
            <a:ext cx="4429802" cy="461665"/>
          </a:xfrm>
          <a:prstGeom prst="rect">
            <a:avLst/>
          </a:prstGeom>
          <a:noFill/>
        </p:spPr>
        <p:txBody>
          <a:bodyPr wrap="none" rtlCol="0">
            <a:spAutoFit/>
          </a:bodyPr>
          <a:lstStyle/>
          <a:p>
            <a:r>
              <a:rPr lang="en-US" sz="2400" b="1" dirty="0"/>
              <a:t>Apr 2025 ~ Present, FPT Software</a:t>
            </a:r>
          </a:p>
        </p:txBody>
      </p:sp>
    </p:spTree>
    <p:extLst>
      <p:ext uri="{BB962C8B-B14F-4D97-AF65-F5344CB8AC3E}">
        <p14:creationId xmlns:p14="http://schemas.microsoft.com/office/powerpoint/2010/main" val="4017486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E1D07-DEFF-93E6-7341-8BE59A32409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C741281-1AA4-0A12-1A2A-1EF5F373ED0B}"/>
              </a:ext>
            </a:extLst>
          </p:cNvPr>
          <p:cNvSpPr txBox="1"/>
          <p:nvPr/>
        </p:nvSpPr>
        <p:spPr>
          <a:xfrm>
            <a:off x="547699" y="451836"/>
            <a:ext cx="2709396" cy="707886"/>
          </a:xfrm>
          <a:prstGeom prst="rect">
            <a:avLst/>
          </a:prstGeom>
          <a:noFill/>
        </p:spPr>
        <p:txBody>
          <a:bodyPr wrap="none" rtlCol="0">
            <a:spAutoFit/>
          </a:bodyPr>
          <a:lstStyle/>
          <a:p>
            <a:r>
              <a:rPr lang="en-US" sz="4000" b="1" dirty="0"/>
              <a:t>EDUCATION</a:t>
            </a:r>
          </a:p>
        </p:txBody>
      </p:sp>
      <p:sp>
        <p:nvSpPr>
          <p:cNvPr id="5" name="Rectangle 4">
            <a:extLst>
              <a:ext uri="{FF2B5EF4-FFF2-40B4-BE49-F238E27FC236}">
                <a16:creationId xmlns:a16="http://schemas.microsoft.com/office/drawing/2014/main" id="{F2F44968-F15C-B54D-030A-45890EBF75D1}"/>
              </a:ext>
            </a:extLst>
          </p:cNvPr>
          <p:cNvSpPr/>
          <p:nvPr/>
        </p:nvSpPr>
        <p:spPr>
          <a:xfrm flipV="1">
            <a:off x="662610" y="1040990"/>
            <a:ext cx="2594485" cy="45719"/>
          </a:xfrm>
          <a:prstGeom prst="rect">
            <a:avLst/>
          </a:prstGeom>
          <a:solidFill>
            <a:schemeClr val="tx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4C436BE-0D70-262D-5247-B52A03A9C5B4}"/>
              </a:ext>
            </a:extLst>
          </p:cNvPr>
          <p:cNvSpPr txBox="1"/>
          <p:nvPr/>
        </p:nvSpPr>
        <p:spPr>
          <a:xfrm>
            <a:off x="662610" y="1533249"/>
            <a:ext cx="8481390" cy="1569660"/>
          </a:xfrm>
          <a:prstGeom prst="rect">
            <a:avLst/>
          </a:prstGeom>
          <a:noFill/>
        </p:spPr>
        <p:txBody>
          <a:bodyPr wrap="square" rtlCol="0">
            <a:spAutoFit/>
          </a:bodyPr>
          <a:lstStyle/>
          <a:p>
            <a:r>
              <a:rPr lang="en-US" sz="2000" dirty="0"/>
              <a:t>Major: Software Engineering</a:t>
            </a:r>
            <a:br>
              <a:rPr lang="en-US" sz="2000" dirty="0"/>
            </a:br>
            <a:r>
              <a:rPr lang="en-US" sz="2000" dirty="0"/>
              <a:t>Degree classification: </a:t>
            </a:r>
            <a:r>
              <a:rPr lang="en-US" sz="2000" dirty="0">
                <a:solidFill>
                  <a:srgbClr val="00B050"/>
                </a:solidFill>
              </a:rPr>
              <a:t>Good</a:t>
            </a:r>
            <a:br>
              <a:rPr lang="en-US" sz="2000" dirty="0"/>
            </a:br>
            <a:r>
              <a:rPr lang="en-US" sz="2000" b="1" dirty="0">
                <a:solidFill>
                  <a:srgbClr val="FF0000"/>
                </a:solidFill>
              </a:rPr>
              <a:t>Bachelor in Software Engineering</a:t>
            </a:r>
            <a:br>
              <a:rPr lang="en-US" dirty="0"/>
            </a:br>
            <a:br>
              <a:rPr lang="en-US" dirty="0"/>
            </a:br>
            <a:endParaRPr lang="en-US" dirty="0"/>
          </a:p>
        </p:txBody>
      </p:sp>
      <p:sp>
        <p:nvSpPr>
          <p:cNvPr id="30" name="TextBox 29">
            <a:extLst>
              <a:ext uri="{FF2B5EF4-FFF2-40B4-BE49-F238E27FC236}">
                <a16:creationId xmlns:a16="http://schemas.microsoft.com/office/drawing/2014/main" id="{DF5EA55F-8BD0-5095-586B-8EE3CF04E1CD}"/>
              </a:ext>
            </a:extLst>
          </p:cNvPr>
          <p:cNvSpPr txBox="1"/>
          <p:nvPr/>
        </p:nvSpPr>
        <p:spPr>
          <a:xfrm>
            <a:off x="662610" y="1168394"/>
            <a:ext cx="7174849" cy="461665"/>
          </a:xfrm>
          <a:prstGeom prst="rect">
            <a:avLst/>
          </a:prstGeom>
          <a:noFill/>
        </p:spPr>
        <p:txBody>
          <a:bodyPr wrap="none" rtlCol="0">
            <a:spAutoFit/>
          </a:bodyPr>
          <a:lstStyle/>
          <a:p>
            <a:r>
              <a:rPr lang="en-US" sz="2400" b="1" dirty="0"/>
              <a:t>Sep 2016 ~ Oct 2020, HANOI UNIVERSITY OF INDUSTRY</a:t>
            </a:r>
          </a:p>
        </p:txBody>
      </p:sp>
      <p:sp>
        <p:nvSpPr>
          <p:cNvPr id="2" name="TextBox 1">
            <a:extLst>
              <a:ext uri="{FF2B5EF4-FFF2-40B4-BE49-F238E27FC236}">
                <a16:creationId xmlns:a16="http://schemas.microsoft.com/office/drawing/2014/main" id="{85265951-5DEC-30C2-153B-7D4D57FCA4FC}"/>
              </a:ext>
            </a:extLst>
          </p:cNvPr>
          <p:cNvSpPr txBox="1"/>
          <p:nvPr/>
        </p:nvSpPr>
        <p:spPr>
          <a:xfrm>
            <a:off x="549624" y="2710818"/>
            <a:ext cx="3608488" cy="707886"/>
          </a:xfrm>
          <a:prstGeom prst="rect">
            <a:avLst/>
          </a:prstGeom>
          <a:noFill/>
        </p:spPr>
        <p:txBody>
          <a:bodyPr wrap="none" rtlCol="0">
            <a:spAutoFit/>
          </a:bodyPr>
          <a:lstStyle/>
          <a:p>
            <a:r>
              <a:rPr lang="en-US" sz="4000" b="1" dirty="0"/>
              <a:t>CERTIFICATIONS</a:t>
            </a:r>
          </a:p>
        </p:txBody>
      </p:sp>
      <p:sp>
        <p:nvSpPr>
          <p:cNvPr id="3" name="Rectangle 2">
            <a:extLst>
              <a:ext uri="{FF2B5EF4-FFF2-40B4-BE49-F238E27FC236}">
                <a16:creationId xmlns:a16="http://schemas.microsoft.com/office/drawing/2014/main" id="{19CB26AA-9E00-8ED7-2976-990FC6EC44C9}"/>
              </a:ext>
            </a:extLst>
          </p:cNvPr>
          <p:cNvSpPr/>
          <p:nvPr/>
        </p:nvSpPr>
        <p:spPr>
          <a:xfrm flipV="1">
            <a:off x="664535" y="3299971"/>
            <a:ext cx="3409754" cy="45719"/>
          </a:xfrm>
          <a:prstGeom prst="rect">
            <a:avLst/>
          </a:prstGeom>
          <a:solidFill>
            <a:schemeClr val="tx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2332D51-9E15-BB69-6D40-FA9D5D8B559B}"/>
              </a:ext>
            </a:extLst>
          </p:cNvPr>
          <p:cNvSpPr txBox="1"/>
          <p:nvPr/>
        </p:nvSpPr>
        <p:spPr>
          <a:xfrm>
            <a:off x="664539" y="3415812"/>
            <a:ext cx="5878276" cy="1384995"/>
          </a:xfrm>
          <a:prstGeom prst="rect">
            <a:avLst/>
          </a:prstGeom>
          <a:noFill/>
        </p:spPr>
        <p:txBody>
          <a:bodyPr wrap="none" rtlCol="0">
            <a:spAutoFit/>
          </a:bodyPr>
          <a:lstStyle/>
          <a:p>
            <a:r>
              <a:rPr lang="en-US" sz="2400" b="1" dirty="0"/>
              <a:t>2018, </a:t>
            </a:r>
          </a:p>
          <a:p>
            <a:r>
              <a:rPr lang="en-US" sz="2000" dirty="0"/>
              <a:t>Responsive Web Design Certification</a:t>
            </a:r>
            <a:br>
              <a:rPr lang="en-US" sz="2000" dirty="0"/>
            </a:br>
            <a:r>
              <a:rPr lang="en-US" sz="2000" dirty="0"/>
              <a:t>JavaScript Algorithms and Data Structures Certification</a:t>
            </a:r>
            <a:br>
              <a:rPr lang="en-US" sz="2000" dirty="0"/>
            </a:br>
            <a:r>
              <a:rPr lang="en-US" sz="2000" dirty="0"/>
              <a:t>Front End Libraries Certification at </a:t>
            </a:r>
            <a:r>
              <a:rPr lang="en-US" sz="2000" dirty="0" err="1"/>
              <a:t>FreeCodeCamp</a:t>
            </a:r>
            <a:endParaRPr lang="en-US" sz="2400" dirty="0"/>
          </a:p>
        </p:txBody>
      </p:sp>
      <p:sp>
        <p:nvSpPr>
          <p:cNvPr id="8" name="TextBox 7">
            <a:extLst>
              <a:ext uri="{FF2B5EF4-FFF2-40B4-BE49-F238E27FC236}">
                <a16:creationId xmlns:a16="http://schemas.microsoft.com/office/drawing/2014/main" id="{C722C05F-CD07-BA8A-BE37-FAF3E9DACB12}"/>
              </a:ext>
            </a:extLst>
          </p:cNvPr>
          <p:cNvSpPr txBox="1"/>
          <p:nvPr/>
        </p:nvSpPr>
        <p:spPr>
          <a:xfrm>
            <a:off x="549629" y="4863719"/>
            <a:ext cx="2425985" cy="707886"/>
          </a:xfrm>
          <a:prstGeom prst="rect">
            <a:avLst/>
          </a:prstGeom>
          <a:noFill/>
        </p:spPr>
        <p:txBody>
          <a:bodyPr wrap="none" rtlCol="0">
            <a:spAutoFit/>
          </a:bodyPr>
          <a:lstStyle/>
          <a:p>
            <a:r>
              <a:rPr lang="en-US" sz="4000" b="1" dirty="0"/>
              <a:t>INTERESTS</a:t>
            </a:r>
          </a:p>
        </p:txBody>
      </p:sp>
      <p:sp>
        <p:nvSpPr>
          <p:cNvPr id="9" name="Rectangle 8">
            <a:extLst>
              <a:ext uri="{FF2B5EF4-FFF2-40B4-BE49-F238E27FC236}">
                <a16:creationId xmlns:a16="http://schemas.microsoft.com/office/drawing/2014/main" id="{9759782E-6102-1BA9-3F1A-8B56D0F57E7C}"/>
              </a:ext>
            </a:extLst>
          </p:cNvPr>
          <p:cNvSpPr/>
          <p:nvPr/>
        </p:nvSpPr>
        <p:spPr>
          <a:xfrm flipV="1">
            <a:off x="664540" y="5452873"/>
            <a:ext cx="2594485" cy="45719"/>
          </a:xfrm>
          <a:prstGeom prst="rect">
            <a:avLst/>
          </a:prstGeom>
          <a:solidFill>
            <a:schemeClr val="tx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79B126-6379-FF6A-32E5-16D304ACFF6B}"/>
              </a:ext>
            </a:extLst>
          </p:cNvPr>
          <p:cNvSpPr txBox="1"/>
          <p:nvPr/>
        </p:nvSpPr>
        <p:spPr>
          <a:xfrm>
            <a:off x="662610" y="5634517"/>
            <a:ext cx="4572000" cy="400110"/>
          </a:xfrm>
          <a:prstGeom prst="rect">
            <a:avLst/>
          </a:prstGeom>
          <a:noFill/>
        </p:spPr>
        <p:txBody>
          <a:bodyPr wrap="square">
            <a:spAutoFit/>
          </a:bodyPr>
          <a:lstStyle/>
          <a:p>
            <a:r>
              <a:rPr lang="en-US" sz="2000" dirty="0"/>
              <a:t>Traveling, Music, Walking</a:t>
            </a:r>
          </a:p>
        </p:txBody>
      </p:sp>
    </p:spTree>
    <p:extLst>
      <p:ext uri="{BB962C8B-B14F-4D97-AF65-F5344CB8AC3E}">
        <p14:creationId xmlns:p14="http://schemas.microsoft.com/office/powerpoint/2010/main" val="139078655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70</TotalTime>
  <Words>969</Words>
  <Application>Microsoft Office PowerPoint</Application>
  <PresentationFormat>On-screen Show (4:3)</PresentationFormat>
  <Paragraphs>40</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Prompt-Light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Mike Hy</dc:creator>
  <cp:lastModifiedBy>Mike Hy</cp:lastModifiedBy>
  <cp:revision>3</cp:revision>
  <dcterms:created xsi:type="dcterms:W3CDTF">2025-12-23T22:15:33Z</dcterms:created>
  <dcterms:modified xsi:type="dcterms:W3CDTF">2025-12-29T17:10:53Z</dcterms:modified>
</cp:coreProperties>
</file>